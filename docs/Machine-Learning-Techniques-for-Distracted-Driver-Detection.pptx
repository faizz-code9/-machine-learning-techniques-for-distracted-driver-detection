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Red Hat Mono"/>
      <p:regular r:id="rId201315"/>
    </p:embeddedFont>
    <p:embeddedFont>
      <p:font typeface="Red Hat Mono Bold"/>
      <p:regular r:id="rId201316"/>
    </p:embeddedFont>
    <p:embeddedFont>
      <p:font typeface="Red Hat Text Bold"/>
      <p:regular r:id="rId201317"/>
    </p:embeddedFont>
    <p:embeddedFont>
      <p:font typeface="Red Hat Text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270000"/>
            <a:ext cx="8127797" cy="4692551"/>
          </a:xfrm>
          <a:prstGeom prst="roundRect">
            <a:avLst>
              <a:gd name="adj" fmla="val 771"/>
            </a:avLst>
          </a:prstGeom>
          <a:solidFill>
            <a:srgbClr val="2A2E32"/>
          </a:solidFill>
          <a:ln/>
        </p:spPr>
      </p:sp>
      <p:sp>
        <p:nvSpPr>
          <p:cNvPr id="3" name="Text 1"/>
          <p:cNvSpPr/>
          <p:nvPr/>
        </p:nvSpPr>
        <p:spPr>
          <a:xfrm>
            <a:off x="1066773" y="1585119"/>
            <a:ext cx="802619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UE24CS352A · MACHINE LEARNING MINI-PROJECT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6773" y="1956984"/>
            <a:ext cx="7416614" cy="2901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600" b="1" spc="-84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Machine Learning Techniques for Distracted Driver Detection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6773" y="5020612"/>
            <a:ext cx="802619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Replicating, optimizing, and advancing Stanford CS229 benchmarks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773" y="5430798"/>
            <a:ext cx="8026199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Mohammed Faizan (PES1UG24AM472) &amp; Vikas R (PES1UG24AM477)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650223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5892653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Distracted driving needs an in-cabin vision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33625"/>
            <a:ext cx="5892653" cy="24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Distracted driving contributes to 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10–15%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of global fatal vehicular crashes.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Target behaviors include texting, calling, reaching behind, drinking, and applying makeup.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Project goal: real-time 10-class classification for ADAS, with one safe-driving class plus nine distraction classes.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2" y="0"/>
            <a:ext cx="50798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DATASET · STATE FARM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The State Farm dataset defines a balanced 10-class task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36102"/>
            <a:ext cx="10972526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22,424 high-resolution RGB images at 640×480×3; 80/20 split: 17,939 training images and 4,485 validation images. Stratified sampling preserves class balance across both splits.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3215481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352777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7380" y="3816048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Safe Driving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04050" y="3215481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9" name="Text 7"/>
          <p:cNvSpPr/>
          <p:nvPr/>
        </p:nvSpPr>
        <p:spPr>
          <a:xfrm>
            <a:off x="2981846" y="3352777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81846" y="3816048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Texting-Right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998516" y="3215481"/>
            <a:ext cx="21945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12" name="Text 10"/>
          <p:cNvSpPr/>
          <p:nvPr/>
        </p:nvSpPr>
        <p:spPr>
          <a:xfrm>
            <a:off x="5176311" y="3352777"/>
            <a:ext cx="1838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76311" y="3816048"/>
            <a:ext cx="18389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Talking on Phone-Right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193080" y="3215481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15" name="Text 13"/>
          <p:cNvSpPr/>
          <p:nvPr/>
        </p:nvSpPr>
        <p:spPr>
          <a:xfrm>
            <a:off x="7370876" y="3352777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70876" y="3816048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Texting-Left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387546" y="3215481"/>
            <a:ext cx="21945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18" name="Text 16"/>
          <p:cNvSpPr/>
          <p:nvPr/>
        </p:nvSpPr>
        <p:spPr>
          <a:xfrm>
            <a:off x="9565341" y="3352777"/>
            <a:ext cx="1838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65341" y="3816048"/>
            <a:ext cx="18389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Talking on Phone-Left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09585" y="4606528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21" name="Text 19"/>
          <p:cNvSpPr/>
          <p:nvPr/>
        </p:nvSpPr>
        <p:spPr>
          <a:xfrm>
            <a:off x="787380" y="4743824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7380" y="5207095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Operating Radio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804050" y="4606528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24" name="Text 22"/>
          <p:cNvSpPr/>
          <p:nvPr/>
        </p:nvSpPr>
        <p:spPr>
          <a:xfrm>
            <a:off x="2981846" y="4743824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981846" y="5207095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Drinking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4998516" y="4606528"/>
            <a:ext cx="21945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27" name="Text 25"/>
          <p:cNvSpPr/>
          <p:nvPr/>
        </p:nvSpPr>
        <p:spPr>
          <a:xfrm>
            <a:off x="5176311" y="4743824"/>
            <a:ext cx="1838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76311" y="5207095"/>
            <a:ext cx="2016769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Reaching Behind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193080" y="4606528"/>
            <a:ext cx="21944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30" name="Text 28"/>
          <p:cNvSpPr/>
          <p:nvPr/>
        </p:nvSpPr>
        <p:spPr>
          <a:xfrm>
            <a:off x="7370876" y="4743824"/>
            <a:ext cx="18388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c8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70876" y="5207095"/>
            <a:ext cx="2016670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Hair and Makeup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9387546" y="4606528"/>
            <a:ext cx="2194565" cy="1391047"/>
          </a:xfrm>
          <a:prstGeom prst="roundRect">
            <a:avLst>
              <a:gd name="adj" fmla="val 2602"/>
            </a:avLst>
          </a:prstGeom>
          <a:solidFill>
            <a:srgbClr val="494D51"/>
          </a:solidFill>
          <a:ln/>
        </p:spPr>
      </p:sp>
      <p:sp>
        <p:nvSpPr>
          <p:cNvPr id="33" name="Text 31"/>
          <p:cNvSpPr/>
          <p:nvPr/>
        </p:nvSpPr>
        <p:spPr>
          <a:xfrm>
            <a:off x="9565341" y="4743824"/>
            <a:ext cx="183897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c9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565341" y="5207095"/>
            <a:ext cx="18389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Talking to Passenger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Flattening created the benchmark’s key failure modes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839913"/>
            <a:ext cx="5486263" cy="1654175"/>
          </a:xfrm>
          <a:custGeom>
            <a:avLst/>
            <a:gdLst/>
            <a:ahLst/>
            <a:cxnLst/>
            <a:rect l="l" t="t" r="r" b="b"/>
            <a:pathLst>
              <a:path w="5486263" h="1654175">
                <a:moveTo>
                  <a:pt x="30162" y="0"/>
                </a:moveTo>
                <a:lnTo>
                  <a:pt x="5486263" y="0"/>
                </a:lnTo>
                <a:lnTo>
                  <a:pt x="5486263" y="1654175"/>
                </a:lnTo>
                <a:lnTo>
                  <a:pt x="0" y="1654175"/>
                </a:lnTo>
                <a:lnTo>
                  <a:pt x="0" y="30163"/>
                </a:lnTo>
                <a:arcTo hR="30163" wR="30162" stAng="10800000" swAng="5400000"/>
                <a:close/>
              </a:path>
            </a:pathLst>
          </a:custGeom>
          <a:solidFill>
            <a:srgbClr val="494D51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083278"/>
            <a:ext cx="502907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64×64 → 12,288 features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8179" y="2602008"/>
            <a:ext cx="50290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Stanford resized images to 64×64 and flattened them into 12,288-feature vectors.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095848" y="1839913"/>
            <a:ext cx="5486263" cy="1654175"/>
          </a:xfrm>
          <a:custGeom>
            <a:avLst/>
            <a:gdLst/>
            <a:ahLst/>
            <a:cxnLst/>
            <a:rect l="l" t="t" r="r" b="b"/>
            <a:pathLst>
              <a:path w="5486263" h="1654175">
                <a:moveTo>
                  <a:pt x="0" y="0"/>
                </a:moveTo>
                <a:lnTo>
                  <a:pt x="5456101" y="0"/>
                </a:lnTo>
                <a:arcTo hR="30163" wR="30162" stAng="16200000" swAng="5400000"/>
                <a:lnTo>
                  <a:pt x="5486263" y="1654175"/>
                </a:lnTo>
                <a:lnTo>
                  <a:pt x="0" y="1654175"/>
                </a:lnTo>
                <a:lnTo>
                  <a:pt x="0" y="0"/>
                </a:lnTo>
                <a:close/>
              </a:path>
            </a:pathLst>
          </a:custGeom>
          <a:solidFill>
            <a:srgbClr val="494D51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2083278"/>
            <a:ext cx="502907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Spatial information lost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24442" y="2602008"/>
            <a:ext cx="50290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Flattening discards 2D spatial locality and hand-to-face geometry.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09585" y="3494088"/>
            <a:ext cx="5486263" cy="1654175"/>
          </a:xfrm>
          <a:custGeom>
            <a:avLst/>
            <a:gdLst/>
            <a:ahLst/>
            <a:cxnLst/>
            <a:rect l="l" t="t" r="r" b="b"/>
            <a:pathLst>
              <a:path w="5486263" h="1654175">
                <a:moveTo>
                  <a:pt x="0" y="0"/>
                </a:moveTo>
                <a:lnTo>
                  <a:pt x="5486263" y="0"/>
                </a:lnTo>
                <a:lnTo>
                  <a:pt x="5486263" y="1654175"/>
                </a:lnTo>
                <a:lnTo>
                  <a:pt x="30162" y="1654175"/>
                </a:lnTo>
                <a:arcTo hR="30163" wR="30162" stAng="5400000" swAng="5400000"/>
                <a:lnTo>
                  <a:pt x="0" y="0"/>
                </a:lnTo>
                <a:close/>
              </a:path>
            </a:pathLst>
          </a:custGeom>
          <a:solidFill>
            <a:srgbClr val="494D51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737453"/>
            <a:ext cx="502907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Hard-to-separate pairs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8179" y="4256183"/>
            <a:ext cx="50290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Phone-Left vs Texting-Left and Makeup vs Drinking were especially difficult to separate.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095848" y="3494088"/>
            <a:ext cx="5486263" cy="1654175"/>
          </a:xfrm>
          <a:custGeom>
            <a:avLst/>
            <a:gdLst/>
            <a:ahLst/>
            <a:cxnLst/>
            <a:rect l="l" t="t" r="r" b="b"/>
            <a:pathLst>
              <a:path w="5486263" h="1654175">
                <a:moveTo>
                  <a:pt x="0" y="0"/>
                </a:moveTo>
                <a:lnTo>
                  <a:pt x="5486263" y="0"/>
                </a:lnTo>
                <a:lnTo>
                  <a:pt x="5486263" y="1624012"/>
                </a:lnTo>
                <a:arcTo hR="30163" wR="30162" stAng="0" swAng="5400000"/>
                <a:lnTo>
                  <a:pt x="0" y="1654175"/>
                </a:lnTo>
                <a:lnTo>
                  <a:pt x="0" y="0"/>
                </a:lnTo>
                <a:close/>
              </a:path>
            </a:pathLst>
          </a:custGeom>
          <a:solidFill>
            <a:srgbClr val="494D51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3737453"/>
            <a:ext cx="502907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Initialization failure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24442" y="4256183"/>
            <a:ext cx="5029074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Standard initialization caused the MLP to collapse to about 55% accuracy.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089498" y="1839913"/>
            <a:ext cx="12700" cy="1654175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48773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9498" y="3494088"/>
            <a:ext cx="12700" cy="1654175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48" y="348773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4648084" cy="216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Two tiers test optimization before spatial transfer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323527"/>
            <a:ext cx="4648084" cy="166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study separates optimization from representation: first stabilize learning on flattened inputs, then test whether preserved spatial structure improves transfer.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4648084" cy="20044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47938" y="838618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Tier 1 — Flattened Path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247938" y="1303434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Preprocessing &amp; Augment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47938" y="1763601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Tier 2 — Spatial Path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47938" y="2223768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Training &amp; Scheduler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TRADITIONAL ML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4648084" cy="167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Ensembles and tuned optimization close the traditional ML gap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29814"/>
            <a:ext cx="4648084" cy="166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Random Forest leads the traditional benchmark while Gaussian Naive Bayes lags sharply. StandardScaler and SGD support the Linear SVM and Softmax baselines.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4648084" cy="36811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34027" y="4393267"/>
            <a:ext cx="464808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Decision Tree: max_depth=25. Random Forest: 100-tree variance-reducing ensemble.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NEURAL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4648084" cy="167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Kaiming initialization restores the two-layer neural baseline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29814"/>
            <a:ext cx="4648084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With a stable initialization and tuned Adam optimization, the flattened-input network reaches </a:t>
            </a:r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99.06%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validation accuracy with smooth loss reduction.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09585" y="4375150"/>
            <a:ext cx="3640543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6" name="Text 4"/>
          <p:cNvSpPr/>
          <p:nvPr/>
        </p:nvSpPr>
        <p:spPr>
          <a:xfrm>
            <a:off x="723882" y="4458593"/>
            <a:ext cx="4021533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Red Hat Mono Bold" pitchFamily="34" charset="0"/>
                <a:ea typeface="Red Hat Mono Bold" pitchFamily="34" charset="-122"/>
                <a:cs typeface="Red Hat Mono Bold" pitchFamily="34" charset="-120"/>
              </a:rPr>
              <a:t>99.06% VALIDATION 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34027" y="624366"/>
            <a:ext cx="21716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12,288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34027" y="1143095"/>
            <a:ext cx="217164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Input features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10465" y="624366"/>
            <a:ext cx="21716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512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410465" y="1143095"/>
            <a:ext cx="217164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ReLU hidden units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34027" y="1793163"/>
            <a:ext cx="21716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0.3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34027" y="2311892"/>
            <a:ext cx="217164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Dropout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0465" y="1793163"/>
            <a:ext cx="2171646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10465" y="2311892"/>
            <a:ext cx="2171646" cy="332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Output classes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934027" y="2862421"/>
            <a:ext cx="464808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Adam · learning rate 1e−3 · weight decay 1e−4 · 25 epochs · Kaiming/He normal initialization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4648084" cy="167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ResNet-50 retains spatial features through fine-tuning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829814"/>
            <a:ext cx="4648084" cy="166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Spatial tensors preserve the visual structure that flattened vectors discard. The backbone begins frozen, then layer4 is fine-tuned with a lower learning rate than the classification head.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609600"/>
            <a:ext cx="4648084" cy="20044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47938" y="838618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247938" y="1303434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ResNet-50 Backbone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47938" y="1763601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Classification Head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47938" y="2223768"/>
            <a:ext cx="2556130" cy="14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spc="-10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Output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721342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6603835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Spatial features resolve the benchmark’s hardest confusions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3625"/>
          <a:ext cx="6603835" cy="914400"/>
        </p:xfrm>
        <a:graphic>
          <a:graphicData uri="http://schemas.openxmlformats.org/drawingml/2006/table">
            <a:tbl>
              <a:tblPr/>
              <a:tblGrid>
                <a:gridCol w="3301917"/>
                <a:gridCol w="1650959"/>
                <a:gridCol w="1650959"/>
              </a:tblGrid>
              <a:tr h="5385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Class pair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Before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After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Phone-Left vs Texting-Left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about 71.2%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95.4%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3A7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896"/>
                    </a:solidFill>
                  </a:tcPr>
                </a:tc>
              </a:tr>
              <a:tr h="858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Makeup vs Drinking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about 78.9%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94.1%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3A7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7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78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89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822587"/>
            <a:ext cx="660383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Seven models compared against the Stanford CS229 Project Report (Feng &amp; Yue, 2019).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778" y="2082800"/>
            <a:ext cx="2692333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2A2E32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9919"/>
            <a:ext cx="629904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DEPLOYMENT DIRECTION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49071"/>
            <a:ext cx="5689458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From benchmark to real-time driver safety feedback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09585" y="2333625"/>
            <a:ext cx="5689458" cy="2118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Live dashboard: driver image with Green/Red safety alert banner beside 10-class probabilities.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Approx. 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22 ms per frame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, or about 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45 FPS on GPU</a:t>
            </a:r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.</a:t>
            </a:r>
            <a:endParaRPr lang="en-US" sz="1900" dirty="0"/>
          </a:p>
          <a:p>
            <a:pPr algn="l" marL="386080" indent="-386080">
              <a:lnSpc>
                <a:spcPct val="115000"/>
              </a:lnSpc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Conclusion: convolutional spatial representations are critical for driver-distraction safety systems.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09585" y="4668044"/>
            <a:ext cx="1934618" cy="385961"/>
          </a:xfrm>
          <a:prstGeom prst="roundRect">
            <a:avLst>
              <a:gd name="adj" fmla="val 7897"/>
            </a:avLst>
          </a:prstGeom>
          <a:solidFill>
            <a:srgbClr val="483004"/>
          </a:solidFill>
          <a:ln/>
        </p:spPr>
      </p:sp>
      <p:sp>
        <p:nvSpPr>
          <p:cNvPr id="7" name="Text 5"/>
          <p:cNvSpPr/>
          <p:nvPr/>
        </p:nvSpPr>
        <p:spPr>
          <a:xfrm>
            <a:off x="723882" y="4751487"/>
            <a:ext cx="231560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122" kern="100" dirty="0">
                <a:solidFill>
                  <a:srgbClr val="E4E9EB"/>
                </a:solidFill>
                <a:latin typeface="Red Hat Mono Bold" pitchFamily="34" charset="0"/>
                <a:ea typeface="Red Hat Mono Bold" pitchFamily="34" charset="-122"/>
                <a:cs typeface="Red Hat Mono Bold" pitchFamily="34" charset="-120"/>
              </a:rPr>
              <a:t>45 FPS ON GPU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2026-10-14T15:41:57Z</dcterms:created>
  <dcterms:modified xsi:type="dcterms:W3CDTF">2026-10-14T15:41:57Z</dcterms:modified>
</cp:coreProperties>
</file>